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FC5A1F-740D-4D38-8244-3BC5E263CA9C}" v="89" dt="2026-02-06T03:47:25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3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4db6a1e19185bc/Transaction.mai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54db6a1e19185bc/Transaction.mai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Fraudrate</a:t>
            </a:r>
            <a:r>
              <a:rPr lang="en-IN" baseline="0"/>
              <a:t> by hour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cat>
            <c:numRef>
              <c:f>Fraud_By_Hour!$A$4:$A$27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Fraud_By_Hour!$D$4:$D$27</c:f>
              <c:numCache>
                <c:formatCode>0.00%</c:formatCode>
                <c:ptCount val="24"/>
                <c:pt idx="0">
                  <c:v>7.7972709551656918E-4</c:v>
                </c:pt>
                <c:pt idx="1">
                  <c:v>2.6066350710900474E-3</c:v>
                </c:pt>
                <c:pt idx="2">
                  <c:v>1.7127403846153848E-2</c:v>
                </c:pt>
                <c:pt idx="3">
                  <c:v>4.5819014891179842E-3</c:v>
                </c:pt>
                <c:pt idx="4">
                  <c:v>1.041195110909914E-2</c:v>
                </c:pt>
                <c:pt idx="5">
                  <c:v>3.6789297658862876E-3</c:v>
                </c:pt>
                <c:pt idx="6">
                  <c:v>2.1945866861741038E-3</c:v>
                </c:pt>
                <c:pt idx="7">
                  <c:v>3.1754797735744859E-3</c:v>
                </c:pt>
                <c:pt idx="8">
                  <c:v>8.7582717010509931E-4</c:v>
                </c:pt>
                <c:pt idx="9">
                  <c:v>1.0102285642126531E-3</c:v>
                </c:pt>
                <c:pt idx="10">
                  <c:v>4.8198578141944812E-4</c:v>
                </c:pt>
                <c:pt idx="11">
                  <c:v>3.1442809682012342E-3</c:v>
                </c:pt>
                <c:pt idx="12">
                  <c:v>1.1024643320363165E-3</c:v>
                </c:pt>
                <c:pt idx="13">
                  <c:v>1.1064106736088514E-3</c:v>
                </c:pt>
                <c:pt idx="14">
                  <c:v>1.388050694025347E-3</c:v>
                </c:pt>
                <c:pt idx="15">
                  <c:v>1.5794909179272219E-3</c:v>
                </c:pt>
                <c:pt idx="16">
                  <c:v>1.3371421625235518E-3</c:v>
                </c:pt>
                <c:pt idx="17">
                  <c:v>1.7938884077693925E-3</c:v>
                </c:pt>
                <c:pt idx="18">
                  <c:v>1.9367333763718529E-3</c:v>
                </c:pt>
                <c:pt idx="19">
                  <c:v>1.2141350885040577E-3</c:v>
                </c:pt>
                <c:pt idx="20">
                  <c:v>1.0742420625447602E-3</c:v>
                </c:pt>
                <c:pt idx="21">
                  <c:v>9.0380161554538775E-4</c:v>
                </c:pt>
                <c:pt idx="22">
                  <c:v>5.8286380415776184E-4</c:v>
                </c:pt>
                <c:pt idx="23">
                  <c:v>1.9349488620657882E-3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6A-423A-9A39-064B51B58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463177664"/>
        <c:axId val="1463186304"/>
      </c:lineChart>
      <c:catAx>
        <c:axId val="146317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186304"/>
        <c:crosses val="autoZero"/>
        <c:auto val="1"/>
        <c:lblAlgn val="ctr"/>
        <c:lblOffset val="100"/>
        <c:noMultiLvlLbl val="0"/>
      </c:catAx>
      <c:valAx>
        <c:axId val="146318630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177664"/>
        <c:crosses val="autoZero"/>
        <c:crossBetween val="between"/>
      </c:valAx>
      <c:spPr>
        <a:solidFill>
          <a:schemeClr val="tx2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/>
    </a:solidFill>
    <a:ln w="9525" cap="flat" cmpd="sng" algn="ctr">
      <a:solidFill>
        <a:schemeClr val="bg1">
          <a:lumMod val="9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[Transaction.main.xlsx]Fraud_BY_Amount!PivotTable2</c:name>
    <c:fmtId val="42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0914260717410318E-2"/>
          <c:y val="0.26069225721784778"/>
          <c:w val="0.63603018372703413"/>
          <c:h val="0.4129017206182560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Fraud_BY_Amount!$B$3:$B$4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Fraud_BY_Amount!$A$5:$A$11</c:f>
              <c:strCache>
                <c:ptCount val="6"/>
                <c:pt idx="0">
                  <c:v>$0-50</c:v>
                </c:pt>
                <c:pt idx="1">
                  <c:v>$51-100</c:v>
                </c:pt>
                <c:pt idx="2">
                  <c:v>$101-250</c:v>
                </c:pt>
                <c:pt idx="3">
                  <c:v>$251-500</c:v>
                </c:pt>
                <c:pt idx="4">
                  <c:v>$501-1000</c:v>
                </c:pt>
                <c:pt idx="5">
                  <c:v>$1000+</c:v>
                </c:pt>
              </c:strCache>
            </c:strRef>
          </c:cat>
          <c:val>
            <c:numRef>
              <c:f>Fraud_BY_Amount!$B$5:$B$11</c:f>
              <c:numCache>
                <c:formatCode>General</c:formatCode>
                <c:ptCount val="6"/>
                <c:pt idx="0">
                  <c:v>306</c:v>
                </c:pt>
                <c:pt idx="1">
                  <c:v>56</c:v>
                </c:pt>
                <c:pt idx="2">
                  <c:v>56</c:v>
                </c:pt>
                <c:pt idx="3">
                  <c:v>39</c:v>
                </c:pt>
                <c:pt idx="4">
                  <c:v>26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0C-4D5E-9534-15686977214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510863"/>
        <c:axId val="84511343"/>
      </c:barChart>
      <c:catAx>
        <c:axId val="84510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11343"/>
        <c:crosses val="autoZero"/>
        <c:auto val="1"/>
        <c:lblAlgn val="ctr"/>
        <c:lblOffset val="100"/>
        <c:noMultiLvlLbl val="0"/>
      </c:catAx>
      <c:valAx>
        <c:axId val="84511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10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FF3CC-AAA5-4743-989D-FAF6B2DD516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AE189-3C40-4019-92A1-D26333AD90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64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AE189-3C40-4019-92A1-D26333AD903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739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F165-0B78-B9B4-6FBE-A92FC1B34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2D899-2D62-54CF-3A6E-8277C3C48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6F1A8-782D-5480-E1B9-E1793D1C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4954A-992D-DBFB-68A6-A621B0AD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68A1-703D-7945-DE6A-7DF96963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8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339F-5657-C923-4330-430FBB3B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73994-0EB7-28FE-D81A-F001A280E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8C365-4AF8-8D45-44D4-1242C4AC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4EE8F-16E0-0F6F-5DA9-E73A18B2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A73B9-1EEE-F0E7-743D-8994791D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74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D6E27-5A07-34E5-B1A1-A9187D1B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274D-3B77-62C4-99DB-30F661113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356DE-9E18-B9AB-8106-12A19AF7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8BA98-A585-6860-793A-1683E6CAF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D0CE-99EC-93D2-2947-C5EBFBA7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89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AF1B-5608-24C9-4845-C840EAD8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E5BC-3BA9-157D-A88D-624E0E2E5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D9170-7BC8-BBBC-84AC-5B0CBB87B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913C3-BF76-91CF-FFAB-6B32DE0F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8296A-7324-C582-F2ED-08FCEE6B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7D1F8-332E-7BA2-BB67-5C970ACE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66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ABFE-5C12-1175-6460-AA1A005C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7A575-FC1E-594E-2AFB-4EBC4D8B1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76634-C311-1EEF-2278-4058ACF2A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7354E-A474-B7FB-FADE-14829A361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26010C-708B-46D9-86DD-9AEA5869B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9FA77C-1039-BE40-3FE5-F47CDD42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2C9B4-E7C0-FDA2-9129-ABF64140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20CAF-2962-34A3-2524-DE459F6C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334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5965-60C4-E04A-4809-095F66C3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41AC6-DFDC-394A-032D-CE5F3643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1EB21-11F1-6401-5267-11C6A175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FE4F-CBBF-4D0D-C7D1-4F645D87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12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A48CE-89C8-2899-FB71-DFA7B0E3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894B8-AF6D-AFA6-1FDC-DB45A42B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F1A17-C54A-B7AB-8AFA-CECE0A47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39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3EF1-21D5-50A4-833D-6F0474CB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DC522-1AAD-9BBD-69BF-1E1694FC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643D1-D14B-4ED3-FBBC-82EB2EC3A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AF53C-7F21-C281-2747-95C294C1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9E68-5B3E-58B8-D0BA-47C39A14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A2800-B05F-C74D-BDD7-2E9FF77F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01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69E5-A257-2D1F-ED17-EB51E338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008C1-C289-7C14-158E-F9C24163C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6AF35-D2BE-5950-F513-55BB6A465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BB62C-9B17-DA14-0155-7580DD32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844E1-E07D-79F6-6BDE-F6E4F9C1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E0C56-AFF8-2B0A-BB43-CB88AAEE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06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6224-4279-579C-20F5-BE0C6473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D2304-D45C-9CB9-F7F3-8AE0ADE2C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12E0-C646-3243-A859-019BF94C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F54A3-CB9A-035B-7B26-3C15A36C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AE928-B4D2-A5B4-5A2F-AA663E20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02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D6ED0-D34F-DE89-49FD-C015149BF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94A86-FCD7-842B-50CE-41AF50693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88C6F-286B-BA35-CA53-CBC0D28B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1BAB9-129E-E7E3-0DD5-D86CEF08E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F985-7760-8E3D-A208-8AE2A776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98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C9743-3EA9-63C8-6548-16CDF9B4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CD4C0-19F5-631E-7920-B26980AB2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7E7D-2870-5EB0-1FA5-FD5AB6D07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2257A-0842-47E4-830C-FF947791BA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49DAA-163E-9AB3-4D02-80545ED4E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D1354-F0B0-EF8D-1FC8-85A7D5E7D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A3F04-735B-4B37-A866-18F8293F88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30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5DB17A-475A-26D8-D13F-3F8FC464C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Credit Card Fraud Detection</a:t>
            </a:r>
            <a:br>
              <a:rPr lang="en-US" dirty="0"/>
            </a:br>
            <a:r>
              <a:rPr lang="en-US" dirty="0"/>
              <a:t> &amp; Pattern Recognition Project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AB7DAD0-807F-84BF-12B6-6645D29C5E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SQL | Excel | Power BI | Statistical Analysis</a:t>
            </a:r>
          </a:p>
          <a:p>
            <a:r>
              <a:rPr lang="en-US" dirty="0" err="1"/>
              <a:t>AbshaFathima</a:t>
            </a:r>
            <a:r>
              <a:rPr lang="en-US" dirty="0"/>
              <a:t> </a:t>
            </a:r>
          </a:p>
          <a:p>
            <a:r>
              <a:rPr lang="en-US" dirty="0"/>
              <a:t>Data Analyst  Portfolio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55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B36E-AF28-6F89-4840-28A4B9198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022804"/>
          </a:xfrm>
        </p:spPr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DF865-8AA8-252E-4BF1-192D2F381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586"/>
            <a:ext cx="10515600" cy="5306785"/>
          </a:xfrm>
        </p:spPr>
        <p:txBody>
          <a:bodyPr>
            <a:noAutofit/>
          </a:bodyPr>
          <a:lstStyle/>
          <a:p>
            <a:r>
              <a:rPr lang="en-US" sz="1600" b="1" dirty="0"/>
              <a:t>PROJECT OVERVIEW</a:t>
            </a:r>
          </a:p>
          <a:p>
            <a:r>
              <a:rPr lang="en-US" sz="1600" dirty="0"/>
              <a:t> Analyzed 284,807 credit card transactions to detect fraud patterns</a:t>
            </a:r>
          </a:p>
          <a:p>
            <a:r>
              <a:rPr lang="en-US" sz="1600" dirty="0"/>
              <a:t> Identified $11M annual fraud exposure with quantified business impact</a:t>
            </a:r>
          </a:p>
          <a:p>
            <a:r>
              <a:rPr lang="en-US" sz="1600" dirty="0"/>
              <a:t> Developed data-driven detection framework with $1.8M savings potential</a:t>
            </a:r>
          </a:p>
          <a:p>
            <a:endParaRPr lang="en-US" sz="1600" dirty="0"/>
          </a:p>
          <a:p>
            <a:r>
              <a:rPr lang="en-US" sz="1600" b="1" dirty="0"/>
              <a:t>ANALYTICAL APPROACH</a:t>
            </a:r>
          </a:p>
          <a:p>
            <a:r>
              <a:rPr lang="en-US" sz="1600" dirty="0"/>
              <a:t> SQL: Pattern detection queries and business metrics calculation</a:t>
            </a:r>
          </a:p>
          <a:p>
            <a:r>
              <a:rPr lang="en-US" sz="1600" dirty="0"/>
              <a:t> Excel: Statistical analysis and financial modeling</a:t>
            </a:r>
          </a:p>
          <a:p>
            <a:r>
              <a:rPr lang="en-US" sz="1600" dirty="0"/>
              <a:t> Power BI: Interactive 3-page dashboard with 15+ visualizations</a:t>
            </a:r>
          </a:p>
          <a:p>
            <a:endParaRPr lang="en-US" sz="1600" dirty="0"/>
          </a:p>
          <a:p>
            <a:r>
              <a:rPr lang="en-US" sz="1600" b="1" dirty="0"/>
              <a:t>KEY RESULTS</a:t>
            </a:r>
          </a:p>
          <a:p>
            <a:r>
              <a:rPr lang="en-US" sz="1600" dirty="0"/>
              <a:t> Temporal pattern: Hour 2 shows 10x elevated fraud rate</a:t>
            </a:r>
          </a:p>
          <a:p>
            <a:r>
              <a:rPr lang="en-US" sz="1600" dirty="0"/>
              <a:t> Amount correlation: $501-1000 range exhibits 2.5x higher risk</a:t>
            </a:r>
          </a:p>
          <a:p>
            <a:r>
              <a:rPr lang="en-US" sz="1600" dirty="0"/>
              <a:t> Financial impact: 2,671% ROI with 0.4-month payback period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2482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F8F3-DE5E-5913-16E1-F07EFE07D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2804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Problem &amp; Data Challenge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61A9F-7C95-7CEB-7990-D821B769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971"/>
            <a:ext cx="10515600" cy="4935992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INDUSTRY CONTEXT</a:t>
            </a:r>
          </a:p>
          <a:p>
            <a:r>
              <a:rPr lang="en-IN" dirty="0"/>
              <a:t> Global payment fraud losses: $32B annually</a:t>
            </a:r>
          </a:p>
          <a:p>
            <a:r>
              <a:rPr lang="en-IN" dirty="0"/>
              <a:t> Traditional detection: ~60% effective with 12% false positive rate</a:t>
            </a:r>
          </a:p>
          <a:p>
            <a:r>
              <a:rPr lang="en-IN" dirty="0"/>
              <a:t> Manual review cost: $25 per flagged transaction</a:t>
            </a:r>
          </a:p>
          <a:p>
            <a:r>
              <a:rPr lang="en-IN" dirty="0"/>
              <a:t> Customer friction from declined legitimate transactions</a:t>
            </a:r>
          </a:p>
          <a:p>
            <a:endParaRPr lang="en-IN" dirty="0"/>
          </a:p>
          <a:p>
            <a:r>
              <a:rPr lang="en-IN" b="1" dirty="0"/>
              <a:t>DATA CHALLENGE</a:t>
            </a:r>
          </a:p>
          <a:p>
            <a:r>
              <a:rPr lang="en-IN" dirty="0"/>
              <a:t>Dataset: 284,807 credit card transactions (2-day snapshot)</a:t>
            </a:r>
          </a:p>
          <a:p>
            <a:r>
              <a:rPr lang="en-IN" dirty="0"/>
              <a:t>Fraud Cases: 492 confirmed fraudulent transactions (0.17%)</a:t>
            </a:r>
          </a:p>
          <a:p>
            <a:r>
              <a:rPr lang="en-IN" dirty="0"/>
              <a:t>Fraud Loss: $60,128 over 2-day period</a:t>
            </a:r>
          </a:p>
          <a:p>
            <a:r>
              <a:rPr lang="en-IN" dirty="0"/>
              <a:t>Annualized Exposure: $10.97 million</a:t>
            </a:r>
          </a:p>
          <a:p>
            <a:endParaRPr lang="en-IN" dirty="0"/>
          </a:p>
          <a:p>
            <a:r>
              <a:rPr lang="en-IN" b="1" dirty="0"/>
              <a:t>OBJECTIVE</a:t>
            </a:r>
          </a:p>
          <a:p>
            <a:r>
              <a:rPr lang="en-IN" dirty="0"/>
              <a:t>Identify fraud patterns through data analysis to improve detection </a:t>
            </a:r>
          </a:p>
          <a:p>
            <a:r>
              <a:rPr lang="en-IN" dirty="0"/>
              <a:t>accuracy while reducing operational costs and customer friction</a:t>
            </a:r>
          </a:p>
        </p:txBody>
      </p:sp>
    </p:spTree>
    <p:extLst>
      <p:ext uri="{BB962C8B-B14F-4D97-AF65-F5344CB8AC3E}">
        <p14:creationId xmlns:p14="http://schemas.microsoft.com/office/powerpoint/2010/main" val="376533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95FDA-8AC0-E6FF-F09D-87311C9E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Analytical Approach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4AF33-8150-086E-43AE-B98969F1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DATA PREPARATION</a:t>
            </a:r>
          </a:p>
          <a:p>
            <a:r>
              <a:rPr lang="en-IN" dirty="0"/>
              <a:t>✓ Data profiling: 284,807 records across 31 features</a:t>
            </a:r>
          </a:p>
          <a:p>
            <a:r>
              <a:rPr lang="en-IN" dirty="0"/>
              <a:t>✓ Quality assessment: Missing values, outliers, duplicates</a:t>
            </a:r>
          </a:p>
          <a:p>
            <a:r>
              <a:rPr lang="en-IN" dirty="0"/>
              <a:t>✓ Feature engineering: Hour extraction, amount binning</a:t>
            </a:r>
          </a:p>
          <a:p>
            <a:r>
              <a:rPr lang="en-IN" dirty="0"/>
              <a:t>✓ Validation: Cross-verification across multiple tools</a:t>
            </a:r>
          </a:p>
          <a:p>
            <a:endParaRPr lang="en-IN" dirty="0"/>
          </a:p>
          <a:p>
            <a:r>
              <a:rPr lang="en-IN" b="1" dirty="0"/>
              <a:t>EXPLORATORY DATA ANALYSIS (EDA)</a:t>
            </a:r>
          </a:p>
          <a:p>
            <a:r>
              <a:rPr lang="en-IN" dirty="0"/>
              <a:t>✓ Descriptive statistics: Mean, median, standard deviation</a:t>
            </a:r>
          </a:p>
          <a:p>
            <a:r>
              <a:rPr lang="en-IN" dirty="0"/>
              <a:t>✓ Distribution analysis: Fraud vs legitimate patterns</a:t>
            </a:r>
          </a:p>
          <a:p>
            <a:r>
              <a:rPr lang="en-IN" dirty="0"/>
              <a:t>✓ Correlation analysis: Time, amount, merchant relationships</a:t>
            </a:r>
          </a:p>
          <a:p>
            <a:r>
              <a:rPr lang="en-IN" dirty="0"/>
              <a:t>✓ Outlier detection: Statistical anomaly identification</a:t>
            </a:r>
          </a:p>
          <a:p>
            <a:endParaRPr lang="en-IN" dirty="0"/>
          </a:p>
          <a:p>
            <a:r>
              <a:rPr lang="en-IN" b="1" dirty="0"/>
              <a:t>TOOLS &amp; TECHNIQUES</a:t>
            </a:r>
          </a:p>
          <a:p>
            <a:r>
              <a:rPr lang="en-IN" dirty="0"/>
              <a:t>SQL  → Pattern detection, aggregation, business metrics</a:t>
            </a:r>
          </a:p>
          <a:p>
            <a:r>
              <a:rPr lang="en-IN" dirty="0"/>
              <a:t>Excel  → Statistical analysis, pivot tables, financial </a:t>
            </a:r>
            <a:r>
              <a:rPr lang="en-IN" dirty="0" err="1"/>
              <a:t>modeling</a:t>
            </a:r>
            <a:endParaRPr lang="en-IN" dirty="0"/>
          </a:p>
          <a:p>
            <a:r>
              <a:rPr lang="en-IN" dirty="0"/>
              <a:t>Power BI  → Interactive visualization, DAX measures, dashboards</a:t>
            </a:r>
          </a:p>
        </p:txBody>
      </p:sp>
    </p:spTree>
    <p:extLst>
      <p:ext uri="{BB962C8B-B14F-4D97-AF65-F5344CB8AC3E}">
        <p14:creationId xmlns:p14="http://schemas.microsoft.com/office/powerpoint/2010/main" val="231905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0010-0F7F-DBF1-9418-73488327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489"/>
          </a:xfrm>
        </p:spPr>
        <p:txBody>
          <a:bodyPr>
            <a:normAutofit fontScale="90000"/>
          </a:bodyPr>
          <a:lstStyle/>
          <a:p>
            <a:r>
              <a:rPr lang="en-IN" dirty="0"/>
              <a:t>SQL Pattern Detection &amp; Metrics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B4CD9-BA75-CF7F-050D-06FBF4FCD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22614"/>
            <a:ext cx="5181600" cy="4898572"/>
          </a:xfrm>
        </p:spPr>
        <p:txBody>
          <a:bodyPr>
            <a:normAutofit fontScale="55000" lnSpcReduction="20000"/>
          </a:bodyPr>
          <a:lstStyle/>
          <a:p>
            <a:r>
              <a:rPr lang="en-IN" sz="3800" b="1" dirty="0"/>
              <a:t>5 PRODUCTION-READY SQL QUERIES</a:t>
            </a:r>
          </a:p>
          <a:p>
            <a:endParaRPr lang="en-IN" sz="3800" b="1" dirty="0"/>
          </a:p>
          <a:p>
            <a:r>
              <a:rPr lang="en-IN" sz="3200" b="1" dirty="0"/>
              <a:t>Query 1: Transaction Velocity Analysis</a:t>
            </a:r>
          </a:p>
          <a:p>
            <a:r>
              <a:rPr lang="en-IN" sz="3200" dirty="0"/>
              <a:t> Identified rapid-fire transaction patterns</a:t>
            </a:r>
          </a:p>
          <a:p>
            <a:r>
              <a:rPr lang="en-IN" sz="3200" dirty="0"/>
              <a:t> Flagged suspicious time-based </a:t>
            </a:r>
            <a:r>
              <a:rPr lang="en-IN" sz="3200" dirty="0" err="1"/>
              <a:t>behaviors</a:t>
            </a:r>
            <a:endParaRPr lang="en-IN" sz="3200" dirty="0"/>
          </a:p>
          <a:p>
            <a:r>
              <a:rPr lang="en-IN" sz="3200" dirty="0"/>
              <a:t> Risk categorization based on temporal clusters</a:t>
            </a:r>
          </a:p>
          <a:p>
            <a:r>
              <a:rPr lang="en-IN" sz="3200" b="1" dirty="0"/>
              <a:t>Query 2: Amount Anomaly Detection  </a:t>
            </a:r>
          </a:p>
          <a:p>
            <a:r>
              <a:rPr lang="en-IN" sz="3200" dirty="0"/>
              <a:t> Statistical deviation analysis (&gt;3 standard deviations)</a:t>
            </a:r>
          </a:p>
          <a:p>
            <a:r>
              <a:rPr lang="en-IN" sz="3200" dirty="0"/>
              <a:t> High-value transaction flagging</a:t>
            </a:r>
          </a:p>
          <a:p>
            <a:r>
              <a:rPr lang="en-IN" sz="3200" dirty="0"/>
              <a:t> Anomaly tier classification</a:t>
            </a:r>
          </a:p>
          <a:p>
            <a:r>
              <a:rPr lang="en-IN" sz="3200" b="1" dirty="0"/>
              <a:t>Query 3: Temporal Fraud Pattern Analysis</a:t>
            </a:r>
          </a:p>
          <a:p>
            <a:r>
              <a:rPr lang="en-IN" sz="3200" dirty="0"/>
              <a:t>Hour-by-hour fraud rate calculation</a:t>
            </a:r>
          </a:p>
          <a:p>
            <a:r>
              <a:rPr lang="en-IN" sz="3200" dirty="0"/>
              <a:t> 24-hour risk profiling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DCDFF-D460-A61C-B68D-1419AEDE4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649186"/>
            <a:ext cx="5181600" cy="520881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 Time-based risk categorization</a:t>
            </a:r>
          </a:p>
          <a:p>
            <a:r>
              <a:rPr lang="en-IN" sz="2000" b="1" dirty="0"/>
              <a:t>Query 4: Amount-Based Risk Segmentation</a:t>
            </a:r>
          </a:p>
          <a:p>
            <a:r>
              <a:rPr lang="en-IN" sz="2000" dirty="0"/>
              <a:t> Fraud rate by transaction value ranges</a:t>
            </a:r>
          </a:p>
          <a:p>
            <a:r>
              <a:rPr lang="en-IN" sz="2000" dirty="0"/>
              <a:t> Risk tier assignment by amount bins</a:t>
            </a:r>
          </a:p>
          <a:p>
            <a:r>
              <a:rPr lang="en-IN" sz="2000" dirty="0"/>
              <a:t> Dollar loss concentration analysis</a:t>
            </a:r>
          </a:p>
          <a:p>
            <a:r>
              <a:rPr lang="en-IN" sz="2000" b="1" dirty="0"/>
              <a:t>Query 5: Financial Impact Metrics</a:t>
            </a:r>
          </a:p>
          <a:p>
            <a:r>
              <a:rPr lang="en-IN" sz="2000" dirty="0"/>
              <a:t> Total fraud loss calculations</a:t>
            </a:r>
          </a:p>
          <a:p>
            <a:r>
              <a:rPr lang="en-IN" sz="2000" dirty="0"/>
              <a:t>  Average transaction values (fraud vs legitimate)</a:t>
            </a:r>
          </a:p>
          <a:p>
            <a:r>
              <a:rPr lang="en-IN" sz="2000" dirty="0"/>
              <a:t>  Annualized exposure projections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976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7C37-43CD-AB9F-1CA9-0278DA94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1536"/>
            <a:ext cx="9969726" cy="865414"/>
          </a:xfrm>
        </p:spPr>
        <p:txBody>
          <a:bodyPr>
            <a:normAutofit/>
          </a:bodyPr>
          <a:lstStyle/>
          <a:p>
            <a:r>
              <a:rPr lang="en-IN" sz="3600" dirty="0"/>
              <a:t>Data Insight #1: Temporal Vulnerability Window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ABAFA-4A5C-0AC9-3439-DC14881CF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96950"/>
            <a:ext cx="4924198" cy="4872038"/>
          </a:xfrm>
        </p:spPr>
        <p:txBody>
          <a:bodyPr>
            <a:normAutofit fontScale="85000" lnSpcReduction="10000"/>
          </a:bodyPr>
          <a:lstStyle/>
          <a:p>
            <a:r>
              <a:rPr lang="en-US" sz="1800" b="1" dirty="0"/>
              <a:t>FINDING</a:t>
            </a:r>
          </a:p>
          <a:p>
            <a:r>
              <a:rPr lang="en-US" sz="1800" dirty="0"/>
              <a:t>Hour2 exhibits 1.71% fraud rate - representing 10x elevation above the 0.17% baseline </a:t>
            </a:r>
          </a:p>
          <a:p>
            <a:r>
              <a:rPr lang="en-US" sz="1800" b="1" dirty="0"/>
              <a:t>STATISTICAL ANALYSIS </a:t>
            </a:r>
          </a:p>
          <a:p>
            <a:r>
              <a:rPr lang="en-US" sz="1800" dirty="0"/>
              <a:t> Analyzed fraud distribution across 24-hour cycle </a:t>
            </a:r>
          </a:p>
          <a:p>
            <a:r>
              <a:rPr lang="en-US" sz="1800" dirty="0"/>
              <a:t> Hour 2: 57 fraud cases out of 3,328 transactions </a:t>
            </a:r>
          </a:p>
          <a:p>
            <a:r>
              <a:rPr lang="en-US" sz="1800" dirty="0"/>
              <a:t> Hours 2-5: Represent elevated risk window </a:t>
            </a:r>
          </a:p>
          <a:p>
            <a:r>
              <a:rPr lang="en-US" sz="1800" dirty="0"/>
              <a:t> Overnight period (12am-6am): 23% of total fraud volume .</a:t>
            </a:r>
          </a:p>
          <a:p>
            <a:r>
              <a:rPr lang="en-US" sz="1800" b="1" dirty="0"/>
              <a:t> BUSINESS IMPACT </a:t>
            </a:r>
          </a:p>
          <a:p>
            <a:r>
              <a:rPr lang="en-US" sz="1800" dirty="0"/>
              <a:t> Temporal risk scoring can improve detection by 15-20% </a:t>
            </a:r>
          </a:p>
          <a:p>
            <a:r>
              <a:rPr lang="en-US" sz="1800" dirty="0"/>
              <a:t> Targeted monitoring during high-risk hours reduces review queue  Dynamic risk adjustment based on time-of-day patterns </a:t>
            </a:r>
          </a:p>
          <a:p>
            <a:r>
              <a:rPr lang="en-US" sz="1800" b="1" dirty="0"/>
              <a:t>CHART</a:t>
            </a:r>
          </a:p>
          <a:p>
            <a:r>
              <a:rPr lang="en-US" sz="1800" dirty="0"/>
              <a:t>Line graph showing fraud rate </a:t>
            </a:r>
            <a:r>
              <a:rPr lang="en-US" dirty="0"/>
              <a:t>%</a:t>
            </a:r>
            <a:r>
              <a:rPr lang="en-US" sz="1800" dirty="0"/>
              <a:t> </a:t>
            </a:r>
            <a:r>
              <a:rPr lang="en-US" dirty="0"/>
              <a:t>(</a:t>
            </a:r>
            <a:r>
              <a:rPr lang="en-US" sz="1800" dirty="0"/>
              <a:t>Y</a:t>
            </a:r>
            <a:r>
              <a:rPr lang="en-US" dirty="0"/>
              <a:t>-</a:t>
            </a:r>
            <a:r>
              <a:rPr lang="en-US" sz="1800" dirty="0"/>
              <a:t>axis</a:t>
            </a:r>
            <a:r>
              <a:rPr lang="en-US" dirty="0"/>
              <a:t>)</a:t>
            </a:r>
            <a:r>
              <a:rPr lang="en-US" sz="1800" dirty="0"/>
              <a:t> </a:t>
            </a:r>
            <a:r>
              <a:rPr lang="en-US" dirty="0"/>
              <a:t>by</a:t>
            </a:r>
            <a:r>
              <a:rPr lang="en-US" sz="1800" dirty="0"/>
              <a:t> </a:t>
            </a:r>
            <a:r>
              <a:rPr lang="en-US" dirty="0"/>
              <a:t>hour</a:t>
            </a:r>
            <a:r>
              <a:rPr lang="en-US" sz="1800" dirty="0"/>
              <a:t> </a:t>
            </a:r>
            <a:r>
              <a:rPr lang="en-US" dirty="0"/>
              <a:t>0-23</a:t>
            </a:r>
            <a:r>
              <a:rPr lang="en-US" sz="1800" dirty="0"/>
              <a:t> </a:t>
            </a:r>
            <a:r>
              <a:rPr lang="en-US" dirty="0"/>
              <a:t>(</a:t>
            </a:r>
            <a:r>
              <a:rPr lang="en-US" sz="1800" dirty="0"/>
              <a:t>X</a:t>
            </a:r>
            <a:r>
              <a:rPr lang="en-US" dirty="0"/>
              <a:t>-</a:t>
            </a:r>
            <a:r>
              <a:rPr lang="en-US" sz="1800" dirty="0"/>
              <a:t>axis</a:t>
            </a:r>
            <a:r>
              <a:rPr lang="en-US" dirty="0"/>
              <a:t>)</a:t>
            </a:r>
            <a:r>
              <a:rPr lang="en-US" sz="1800" dirty="0"/>
              <a:t> Peak at </a:t>
            </a:r>
            <a:r>
              <a:rPr lang="en-US" dirty="0"/>
              <a:t>hour</a:t>
            </a:r>
            <a:r>
              <a:rPr lang="en-US" sz="1800" dirty="0"/>
              <a:t> </a:t>
            </a:r>
            <a:r>
              <a:rPr lang="en-US" dirty="0"/>
              <a:t>2</a:t>
            </a:r>
            <a:r>
              <a:rPr lang="en-US" sz="1800" dirty="0"/>
              <a:t> </a:t>
            </a:r>
            <a:r>
              <a:rPr lang="en-US" dirty="0"/>
              <a:t>(~1.7%)</a:t>
            </a:r>
            <a:r>
              <a:rPr lang="en-US" sz="1800" dirty="0"/>
              <a:t> Baseline around </a:t>
            </a:r>
            <a:r>
              <a:rPr lang="en-US" dirty="0"/>
              <a:t>0.1-0.3%</a:t>
            </a:r>
            <a:r>
              <a:rPr lang="en-US" sz="1800" dirty="0"/>
              <a:t> </a:t>
            </a:r>
            <a:r>
              <a:rPr lang="en-US" dirty="0"/>
              <a:t>for</a:t>
            </a:r>
            <a:r>
              <a:rPr lang="en-US" sz="1800" dirty="0"/>
              <a:t> most hours </a:t>
            </a:r>
            <a:endParaRPr lang="en-IN" sz="1800" dirty="0"/>
          </a:p>
        </p:txBody>
      </p:sp>
      <p:graphicFrame>
        <p:nvGraphicFramePr>
          <p:cNvPr id="5" name="Picture Placeholder 4">
            <a:extLst>
              <a:ext uri="{FF2B5EF4-FFF2-40B4-BE49-F238E27FC236}">
                <a16:creationId xmlns:a16="http://schemas.microsoft.com/office/drawing/2014/main" id="{0F8620AC-3A40-3683-0AE0-E20F69A39F16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2306822904"/>
              </p:ext>
            </p:extLst>
          </p:nvPr>
        </p:nvGraphicFramePr>
        <p:xfrm>
          <a:off x="5894614" y="996950"/>
          <a:ext cx="5460774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77004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3331-8A0E-5DC0-AD8B-44135752D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86" y="188912"/>
            <a:ext cx="12008871" cy="800100"/>
          </a:xfrm>
        </p:spPr>
        <p:txBody>
          <a:bodyPr>
            <a:normAutofit/>
          </a:bodyPr>
          <a:lstStyle/>
          <a:p>
            <a:r>
              <a:rPr lang="en-US" sz="3600" dirty="0"/>
              <a:t>Data Insight #2: Transaction Amount Risk Patterns </a:t>
            </a:r>
            <a:endParaRPr lang="en-IN" sz="3600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5BB951-3F3A-D5FC-BC6A-2F2D8730F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145" y="1352749"/>
            <a:ext cx="5495698" cy="5129694"/>
          </a:xfrm>
        </p:spPr>
        <p:txBody>
          <a:bodyPr/>
          <a:lstStyle/>
          <a:p>
            <a:r>
              <a:rPr lang="en-US" b="1" dirty="0"/>
              <a:t>FINDINGS</a:t>
            </a:r>
          </a:p>
          <a:p>
            <a:r>
              <a:rPr lang="en-US" dirty="0"/>
              <a:t>$500-1000 range shows 0.42% fraud rate (2.5x baseline)$0-50 range accounts for 62% of fraud case volume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D0283-B782-8651-6D4B-2B4E8EA27F0A}"/>
              </a:ext>
            </a:extLst>
          </p:cNvPr>
          <p:cNvSpPr txBox="1"/>
          <p:nvPr/>
        </p:nvSpPr>
        <p:spPr>
          <a:xfrm>
            <a:off x="758145" y="2312233"/>
            <a:ext cx="62456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Amount Range   | Fraud Cases  | Fraud Rat  | Risk Level</a:t>
            </a:r>
          </a:p>
          <a:p>
            <a:r>
              <a:rPr lang="en-IN" dirty="0"/>
              <a:t>$0-50                   | 306                | 0.16%         | High Volume</a:t>
            </a:r>
          </a:p>
          <a:p>
            <a:r>
              <a:rPr lang="en-IN" dirty="0"/>
              <a:t>$51-100               | 56                  | 0.15%         | Normal</a:t>
            </a:r>
          </a:p>
          <a:p>
            <a:r>
              <a:rPr lang="en-IN" dirty="0"/>
              <a:t>$101-250             | 56                  | 0.17%         | Normal</a:t>
            </a:r>
          </a:p>
          <a:p>
            <a:r>
              <a:rPr lang="en-IN" dirty="0"/>
              <a:t>$251-500             | 39                  | 0.29%         | Elevated</a:t>
            </a:r>
          </a:p>
          <a:p>
            <a:r>
              <a:rPr lang="en-IN" dirty="0"/>
              <a:t>$501-1000           | 26                  | 0.42%         | Highest Rate</a:t>
            </a:r>
          </a:p>
          <a:p>
            <a:r>
              <a:rPr lang="en-IN" dirty="0"/>
              <a:t>$1000+                 | 9                    | 0.31%         | Elevated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E35EC-A90C-46D0-F632-BEDA4C87944C}"/>
              </a:ext>
            </a:extLst>
          </p:cNvPr>
          <p:cNvSpPr txBox="1"/>
          <p:nvPr/>
        </p:nvSpPr>
        <p:spPr>
          <a:xfrm>
            <a:off x="758145" y="4489670"/>
            <a:ext cx="62456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KEY METRICS</a:t>
            </a:r>
          </a:p>
          <a:p>
            <a:r>
              <a:rPr lang="fr-FR" dirty="0"/>
              <a:t>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fraud</a:t>
            </a:r>
            <a:r>
              <a:rPr lang="fr-FR" dirty="0"/>
              <a:t> transaction: $122.21</a:t>
            </a:r>
          </a:p>
          <a:p>
            <a:r>
              <a:rPr lang="fr-FR" dirty="0"/>
              <a:t>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legitimate</a:t>
            </a:r>
            <a:r>
              <a:rPr lang="fr-FR" dirty="0"/>
              <a:t> transaction: $88.29</a:t>
            </a:r>
          </a:p>
          <a:p>
            <a:r>
              <a:rPr lang="fr-FR" dirty="0"/>
              <a:t> </a:t>
            </a:r>
            <a:r>
              <a:rPr lang="fr-FR" dirty="0" err="1"/>
              <a:t>Fraud</a:t>
            </a:r>
            <a:r>
              <a:rPr lang="fr-FR" dirty="0"/>
              <a:t> multiplier: 1.38x (</a:t>
            </a:r>
            <a:r>
              <a:rPr lang="fr-FR" dirty="0" err="1"/>
              <a:t>fraud</a:t>
            </a:r>
            <a:r>
              <a:rPr lang="fr-FR" dirty="0"/>
              <a:t> transactions 38% </a:t>
            </a:r>
            <a:r>
              <a:rPr lang="fr-FR" dirty="0" err="1"/>
              <a:t>larger</a:t>
            </a:r>
            <a:r>
              <a:rPr lang="fr-FR" dirty="0"/>
              <a:t>)</a:t>
            </a:r>
          </a:p>
          <a:p>
            <a:r>
              <a:rPr lang="en-US" b="1" dirty="0"/>
              <a:t>CHART</a:t>
            </a:r>
          </a:p>
          <a:p>
            <a:r>
              <a:rPr lang="en-US" dirty="0"/>
              <a:t>Bar chart showing fraud count (Y-axis) by amount bins (X-axis) $0-50 shows tallest bar (~306 cases)</a:t>
            </a:r>
            <a:endParaRPr lang="fr-FR" dirty="0"/>
          </a:p>
          <a:p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A304F52-5A5D-C7F3-5E31-41787AD997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4229254"/>
              </p:ext>
            </p:extLst>
          </p:nvPr>
        </p:nvGraphicFramePr>
        <p:xfrm>
          <a:off x="6706394" y="1845129"/>
          <a:ext cx="4572000" cy="4027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7220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106D-331E-60A2-8D28-8F042828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118"/>
          </a:xfrm>
        </p:spPr>
        <p:txBody>
          <a:bodyPr>
            <a:normAutofit/>
          </a:bodyPr>
          <a:lstStyle/>
          <a:p>
            <a:r>
              <a:rPr lang="en-IN" sz="3600" dirty="0"/>
              <a:t>Financial Analysis &amp;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1026A-0B06-4298-1A6B-36E389B27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322614"/>
            <a:ext cx="5181600" cy="5339443"/>
          </a:xfrm>
        </p:spPr>
        <p:txBody>
          <a:bodyPr>
            <a:noAutofit/>
          </a:bodyPr>
          <a:lstStyle/>
          <a:p>
            <a:r>
              <a:rPr lang="en-IN" sz="1800" b="1" dirty="0"/>
              <a:t>CURRENT STATE </a:t>
            </a:r>
            <a:r>
              <a:rPr lang="en-IN" sz="1800" dirty="0"/>
              <a:t>(2-DAYS) </a:t>
            </a:r>
          </a:p>
          <a:p>
            <a:r>
              <a:rPr lang="en-IN" sz="1800" dirty="0"/>
              <a:t>Total Fraud Loss                        $60,128</a:t>
            </a:r>
          </a:p>
          <a:p>
            <a:r>
              <a:rPr lang="en-IN" sz="1800" dirty="0"/>
              <a:t> Annualized Fraud Exposure    $10,973,400</a:t>
            </a:r>
          </a:p>
          <a:p>
            <a:r>
              <a:rPr lang="en-IN" sz="1800" dirty="0"/>
              <a:t> Current Detection Rate (industry </a:t>
            </a:r>
            <a:r>
              <a:rPr lang="en-IN" sz="1800" dirty="0" err="1"/>
              <a:t>avg</a:t>
            </a:r>
            <a:r>
              <a:rPr lang="en-IN" sz="1800" dirty="0"/>
              <a:t>)  60% </a:t>
            </a:r>
          </a:p>
          <a:p>
            <a:r>
              <a:rPr lang="en-IN" sz="1800" dirty="0"/>
              <a:t>Missed Fraud (estimated)       $4,389,360 </a:t>
            </a:r>
          </a:p>
          <a:p>
            <a:r>
              <a:rPr lang="en-IN" sz="1800" b="1" dirty="0"/>
              <a:t>PROPOSED SOLUTION - RISK SCORING FRAMEWORK</a:t>
            </a:r>
          </a:p>
          <a:p>
            <a:r>
              <a:rPr lang="en-IN" sz="1800" b="1" dirty="0"/>
              <a:t> Rule                                              Points</a:t>
            </a:r>
          </a:p>
          <a:p>
            <a:r>
              <a:rPr lang="en-IN" sz="1800" dirty="0"/>
              <a:t> Temporal Risk (Hours 2-5)          +30 </a:t>
            </a:r>
          </a:p>
          <a:p>
            <a:r>
              <a:rPr lang="en-IN" sz="1800" dirty="0"/>
              <a:t>Amount Deviation (&gt;3 std dev)   +35</a:t>
            </a:r>
          </a:p>
          <a:p>
            <a:r>
              <a:rPr lang="en-IN" sz="1800" dirty="0"/>
              <a:t> Value Threshold (&gt;$500)             +20</a:t>
            </a:r>
          </a:p>
          <a:p>
            <a:r>
              <a:rPr lang="en-IN" sz="1800" dirty="0"/>
              <a:t> Combined Score &gt;70           = Flag for Review </a:t>
            </a:r>
          </a:p>
          <a:p>
            <a:r>
              <a:rPr lang="en-US" sz="1800" dirty="0"/>
              <a:t> </a:t>
            </a:r>
            <a:r>
              <a:rPr lang="en-US" sz="1800" b="1" dirty="0"/>
              <a:t>FINANCIAL IMPACT MODEL</a:t>
            </a:r>
          </a:p>
          <a:p>
            <a:r>
              <a:rPr lang="en-US" sz="1800" dirty="0"/>
              <a:t>Investment Required </a:t>
            </a:r>
          </a:p>
          <a:p>
            <a:endParaRPr lang="en-IN" sz="1800" dirty="0"/>
          </a:p>
          <a:p>
            <a:endParaRPr lang="en-US" sz="1800" b="1" dirty="0"/>
          </a:p>
          <a:p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EDADC-4319-C720-8EA5-CE52250E4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2229"/>
            <a:ext cx="5181600" cy="4674734"/>
          </a:xfrm>
        </p:spPr>
        <p:txBody>
          <a:bodyPr>
            <a:noAutofit/>
          </a:bodyPr>
          <a:lstStyle/>
          <a:p>
            <a:r>
              <a:rPr lang="en-US" sz="1800" dirty="0"/>
              <a:t>Implementation Cost (one-time) $50,000</a:t>
            </a:r>
          </a:p>
          <a:p>
            <a:r>
              <a:rPr lang="en-US" sz="1800" dirty="0"/>
              <a:t>Annual Monitoring Cost $15,000 </a:t>
            </a:r>
          </a:p>
          <a:p>
            <a:r>
              <a:rPr lang="en-US" sz="1800" dirty="0"/>
              <a:t> Total First Year Cost $65,000</a:t>
            </a:r>
          </a:p>
          <a:p>
            <a:r>
              <a:rPr lang="en-US" sz="1800" b="1" dirty="0"/>
              <a:t> Expected Returns </a:t>
            </a:r>
          </a:p>
          <a:p>
            <a:r>
              <a:rPr lang="en-US" sz="1800" dirty="0"/>
              <a:t>Fraud Prevention (annual) $1,801,198 </a:t>
            </a:r>
          </a:p>
          <a:p>
            <a:r>
              <a:rPr lang="en-US" sz="1800" dirty="0"/>
              <a:t>False Positive Reduction         Included </a:t>
            </a:r>
          </a:p>
          <a:p>
            <a:r>
              <a:rPr lang="en-US" sz="1800" dirty="0"/>
              <a:t>Review Efficiency Gains           Included</a:t>
            </a:r>
          </a:p>
          <a:p>
            <a:r>
              <a:rPr lang="en-US" sz="1800" b="1" dirty="0"/>
              <a:t> ROI METRICS </a:t>
            </a:r>
          </a:p>
          <a:p>
            <a:r>
              <a:rPr lang="en-US" sz="1800" dirty="0"/>
              <a:t> Net Annual Savings      $1,736,198 </a:t>
            </a:r>
          </a:p>
          <a:p>
            <a:r>
              <a:rPr lang="en-US" sz="1800" dirty="0"/>
              <a:t>ROI Percentage              2,671% </a:t>
            </a:r>
          </a:p>
          <a:p>
            <a:r>
              <a:rPr lang="en-US" sz="1800" dirty="0"/>
              <a:t> Payback Period              0.4 months (12 days) </a:t>
            </a:r>
          </a:p>
          <a:p>
            <a:r>
              <a:rPr lang="en-US" sz="1800" dirty="0"/>
              <a:t>5-Year Value                     $8.9M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65920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63FC-BE66-4049-032D-9AD289E9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446"/>
          </a:xfrm>
        </p:spPr>
        <p:txBody>
          <a:bodyPr>
            <a:normAutofit/>
          </a:bodyPr>
          <a:lstStyle/>
          <a:p>
            <a:r>
              <a:rPr lang="en-IN" sz="3600" dirty="0"/>
              <a:t>Data-Driven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F904-5782-12D3-FBFD-68E827DE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KEY RECOMMENDATIONS</a:t>
            </a:r>
          </a:p>
          <a:p>
            <a:r>
              <a:rPr lang="en-IN" dirty="0"/>
              <a:t> 1. IMPLEMENT TEMPORAL RISK SCORING </a:t>
            </a:r>
          </a:p>
          <a:p>
            <a:r>
              <a:rPr lang="en-IN" dirty="0"/>
              <a:t>→ Enhanced monitoring during hours 2-5</a:t>
            </a:r>
          </a:p>
          <a:p>
            <a:r>
              <a:rPr lang="en-IN" dirty="0"/>
              <a:t> → Dynamic risk adjustment based on time-of-day </a:t>
            </a:r>
          </a:p>
          <a:p>
            <a:r>
              <a:rPr lang="en-IN" dirty="0"/>
              <a:t>→ Expected impact: 15-20% detection improvement</a:t>
            </a:r>
          </a:p>
          <a:p>
            <a:r>
              <a:rPr lang="en-IN" b="1" dirty="0"/>
              <a:t> 2. DEPLOY AMOUNT-BASED VERIFICATION</a:t>
            </a:r>
          </a:p>
          <a:p>
            <a:r>
              <a:rPr lang="en-IN" dirty="0"/>
              <a:t> → Stricter checks for transactions &gt;$250</a:t>
            </a:r>
          </a:p>
          <a:p>
            <a:r>
              <a:rPr lang="en-IN" dirty="0"/>
              <a:t> → Step-up authentication for $500+ transactions</a:t>
            </a:r>
          </a:p>
          <a:p>
            <a:r>
              <a:rPr lang="en-IN" dirty="0"/>
              <a:t> → Expected impact: 25-30% fraud reduction in high-value segment</a:t>
            </a:r>
          </a:p>
          <a:p>
            <a:r>
              <a:rPr lang="en-IN" b="1" dirty="0"/>
              <a:t> 3. ESTABLISH REAL-TIME MONITORING </a:t>
            </a:r>
          </a:p>
          <a:p>
            <a:r>
              <a:rPr lang="en-IN" dirty="0"/>
              <a:t>→ Power BI dashboard for operations team </a:t>
            </a:r>
          </a:p>
        </p:txBody>
      </p:sp>
    </p:spTree>
    <p:extLst>
      <p:ext uri="{BB962C8B-B14F-4D97-AF65-F5344CB8AC3E}">
        <p14:creationId xmlns:p14="http://schemas.microsoft.com/office/powerpoint/2010/main" val="73052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55BA0-7338-D272-5669-E6AC7CE04DB7}"/>
              </a:ext>
            </a:extLst>
          </p:cNvPr>
          <p:cNvSpPr txBox="1"/>
          <p:nvPr/>
        </p:nvSpPr>
        <p:spPr>
          <a:xfrm>
            <a:off x="959302" y="681921"/>
            <a:ext cx="766218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→ Automated alerting for threshold breaches</a:t>
            </a:r>
          </a:p>
          <a:p>
            <a:r>
              <a:rPr lang="en-IN" sz="2400" dirty="0"/>
              <a:t> → Expected impact: 40% faster fraud detection</a:t>
            </a:r>
          </a:p>
          <a:p>
            <a:r>
              <a:rPr lang="en-IN" sz="2400" b="1" dirty="0"/>
              <a:t> 4. CONTINUOUS PATTERN ANALYSIS </a:t>
            </a:r>
          </a:p>
          <a:p>
            <a:r>
              <a:rPr lang="en-IN" sz="2400" dirty="0"/>
              <a:t>→ Monthly fraud trend review</a:t>
            </a:r>
          </a:p>
          <a:p>
            <a:r>
              <a:rPr lang="en-IN" sz="2400" dirty="0"/>
              <a:t> → Adaptive threshold optimization</a:t>
            </a:r>
          </a:p>
          <a:p>
            <a:r>
              <a:rPr lang="en-IN" sz="2400" dirty="0"/>
              <a:t> → Expected impact: Sustained effectiveness over time </a:t>
            </a:r>
          </a:p>
          <a:p>
            <a:r>
              <a:rPr lang="en-IN" sz="2400" b="1" dirty="0"/>
              <a:t>EXPECTED OUTCOMES</a:t>
            </a:r>
          </a:p>
          <a:p>
            <a:r>
              <a:rPr lang="en-IN" sz="2400" dirty="0"/>
              <a:t> ✓ Detection rate: 60% → 85% (42% improvement)</a:t>
            </a:r>
          </a:p>
          <a:p>
            <a:r>
              <a:rPr lang="en-IN" sz="2400" dirty="0"/>
              <a:t> ✓ False positive rate: 12% → 5% (58% reduction)</a:t>
            </a:r>
          </a:p>
          <a:p>
            <a:r>
              <a:rPr lang="en-IN" sz="2400" dirty="0"/>
              <a:t> ✓ Annual savings: $1.8M with 2,671% ROI</a:t>
            </a:r>
          </a:p>
          <a:p>
            <a:r>
              <a:rPr lang="en-IN" sz="2400" dirty="0"/>
              <a:t> ✓ Payback period: 0.4 months (industry-leading)</a:t>
            </a:r>
          </a:p>
          <a:p>
            <a:r>
              <a:rPr lang="en-IN" sz="2400" dirty="0"/>
              <a:t> </a:t>
            </a:r>
            <a:r>
              <a:rPr lang="en-IN" sz="2400" b="1" dirty="0"/>
              <a:t>NEXT STEPS</a:t>
            </a:r>
          </a:p>
          <a:p>
            <a:r>
              <a:rPr lang="en-IN" sz="2400" dirty="0"/>
              <a:t> 1. Executive approval for pilot deployment </a:t>
            </a:r>
          </a:p>
          <a:p>
            <a:r>
              <a:rPr lang="en-IN" sz="2400" dirty="0"/>
              <a:t> 2. Technical scoping and integration planning</a:t>
            </a:r>
          </a:p>
          <a:p>
            <a:r>
              <a:rPr lang="en-IN" sz="2400" dirty="0"/>
              <a:t> 3. Phase 1 launch (Month 1)</a:t>
            </a:r>
          </a:p>
          <a:p>
            <a:r>
              <a:rPr lang="en-IN" sz="2400" dirty="0"/>
              <a:t> 4. Monitor, optimize, scale</a:t>
            </a:r>
          </a:p>
        </p:txBody>
      </p:sp>
    </p:spTree>
    <p:extLst>
      <p:ext uri="{BB962C8B-B14F-4D97-AF65-F5344CB8AC3E}">
        <p14:creationId xmlns:p14="http://schemas.microsoft.com/office/powerpoint/2010/main" val="324386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1109</Words>
  <Application>Microsoft Office PowerPoint</Application>
  <PresentationFormat>Widescreen</PresentationFormat>
  <Paragraphs>162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Credit Card Fraud Detection  &amp; Pattern Recognition Project</vt:lpstr>
      <vt:lpstr>Executive Summary</vt:lpstr>
      <vt:lpstr>Business Problem &amp; Data Challenge </vt:lpstr>
      <vt:lpstr>Analytical Approach &amp; Tools</vt:lpstr>
      <vt:lpstr>SQL Pattern Detection &amp; Metrics </vt:lpstr>
      <vt:lpstr>Data Insight #1: Temporal Vulnerability Window </vt:lpstr>
      <vt:lpstr>Data Insight #2: Transaction Amount Risk Patterns </vt:lpstr>
      <vt:lpstr>Financial Analysis &amp; Business Case</vt:lpstr>
      <vt:lpstr>Data-Driven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Afsha Fathima</dc:creator>
  <cp:lastModifiedBy>Afsha Fathima</cp:lastModifiedBy>
  <cp:revision>2</cp:revision>
  <dcterms:created xsi:type="dcterms:W3CDTF">2026-02-03T23:33:24Z</dcterms:created>
  <dcterms:modified xsi:type="dcterms:W3CDTF">2026-02-06T03:47:54Z</dcterms:modified>
</cp:coreProperties>
</file>